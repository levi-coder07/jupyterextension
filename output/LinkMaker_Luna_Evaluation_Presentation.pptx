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76656"/>
            <a:ext cx="4114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85DCD3"/>
                </a:solidFill>
                <a:latin typeface="Aptos"/>
              </a:rPr>
              <a:t>LINKMAKER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7863840" cy="1508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 Display"/>
              </a:rPr>
              <a:t>Evidence-aware</a:t>
            </a:r>
            <a:br/>
            <a:r>
              <a:t>notebook 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154680"/>
            <a:ext cx="768096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0">
                <a:solidFill>
                  <a:srgbClr val="D4E1EA"/>
                </a:solidFill>
                <a:latin typeface="Aptos"/>
              </a:rPr>
              <a:t>GPT-5.6 Luna pilot + Markdown/code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675887"/>
            <a:ext cx="4754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85DCD3"/>
                </a:solidFill>
                <a:latin typeface="Aptos"/>
              </a:rPr>
              <a:t>Titanic notebook case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417320"/>
            <a:ext cx="2423160" cy="3108960"/>
          </a:xfrm>
          <a:prstGeom prst="roundRect">
            <a:avLst>
              <a:gd name="adj" fmla="val 8000"/>
            </a:avLst>
          </a:prstGeom>
          <a:solidFill>
            <a:srgbClr val="1B3047"/>
          </a:solidFill>
          <a:ln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88552" y="1828800"/>
            <a:ext cx="1737360" cy="8229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2761488"/>
            <a:ext cx="1737360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500" b="1">
                <a:solidFill>
                  <a:srgbClr val="D4E1EA"/>
                </a:solidFill>
                <a:latin typeface="Aptos"/>
              </a:rPr>
              <a:t>relationships</a:t>
            </a:r>
            <a:br/>
            <a:r>
              <a:t>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382512"/>
            <a:ext cx="320040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0F1C30"/>
                </a:solidFill>
                <a:latin typeface="Aptos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RUN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A small, affordable pilot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The Luna run was intentionally compact: enough to demonstrate the workflow and produce two usable links for discussion.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82296" cy="150876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GPT-5.6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Luna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057400"/>
            <a:ext cx="82296" cy="150876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5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user-reported run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057400"/>
            <a:ext cx="82296" cy="150876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input tokens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approximately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2057400"/>
            <a:ext cx="25146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23960" y="2057400"/>
            <a:ext cx="82296" cy="150876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2221992"/>
            <a:ext cx="214884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70632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output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99815"/>
            <a:ext cx="21488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approximately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315968"/>
            <a:ext cx="25603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ACD0DA"/>
                </a:solidFill>
                <a:latin typeface="Aptos"/>
              </a:rPr>
              <a:t>Estimated API 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90288"/>
            <a:ext cx="21945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~$0.030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645152"/>
            <a:ext cx="25603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D4E1EA"/>
                </a:solidFill>
                <a:latin typeface="Aptos"/>
              </a:rPr>
              <a:t>9,000 x $2/M + 1,000 x $12/M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69080"/>
            <a:ext cx="51206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315968"/>
            <a:ext cx="1828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69793"/>
                </a:solidFill>
                <a:latin typeface="Aptos"/>
              </a:rPr>
              <a:t>Interpretation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45152"/>
            <a:ext cx="434340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182330"/>
                </a:solidFill>
                <a:latin typeface="Aptos"/>
              </a:rPr>
              <a:t>A low-cost feasibility signal, not a statistical performance claim.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788152"/>
            <a:ext cx="10698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Estimate assumes $2/M input and $12/M output pricing; verify against the active account pricing.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User-provided token counts + repository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The evidence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53312"/>
            <a:ext cx="1069848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5B6B7B"/>
                </a:solidFill>
                <a:latin typeface="Aptos"/>
              </a:rPr>
              <a:t>Output text gives the linker a second evidence channel while preserving source-code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1  Markdown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The notebook says what should be true or what the analysis is doing.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94560"/>
            <a:ext cx="2971800" cy="109728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2  Code +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Source explains the operation; printed tables and rendered results expose observed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EB8543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194560"/>
            <a:ext cx="2971800" cy="2103120"/>
          </a:xfrm>
          <a:prstGeom prst="roundRect">
            <a:avLst>
              <a:gd name="adj" fmla="val 8000"/>
            </a:avLst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194560"/>
            <a:ext cx="2971800" cy="109728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496312"/>
            <a:ext cx="2560320" cy="38404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182330"/>
                </a:solidFill>
                <a:latin typeface="Aptos"/>
              </a:rPr>
              <a:t>3  Validated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063240"/>
            <a:ext cx="2542032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The result stores exact Markdown/code spans and, for outputs, localized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3913632"/>
            <a:ext cx="22860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169793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Important guardrail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1042416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182330"/>
                </a:solidFill>
                <a:latin typeface="Aptos"/>
              </a:rPr>
              <a:t>Execution output supports interpretation; it does not become the code target. Saved output may also be stale, so the prompt favors captured evidence when conflicts appear.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README.md + routes.py output-context implementation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REPRESENTATIVE SAVED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What the Luna result linked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19072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169793"/>
                </a:solidFill>
                <a:latin typeface="Aptos"/>
              </a:rPr>
              <a:t>Markdown cell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4663440" cy="10058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1">
                <a:solidFill>
                  <a:srgbClr val="182330"/>
                </a:solidFill>
                <a:latin typeface="Aptos"/>
              </a:rPr>
              <a:t>- Pclass=3 had most passengers, however most did not survive.</a:t>
            </a:r>
            <a:br/>
            <a:r>
              <a:t>  Confirms our classifying assumption #2.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109728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5B6B7B"/>
                </a:solidFill>
                <a:latin typeface="Aptos"/>
              </a:rPr>
              <a:t>linked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730752"/>
            <a:ext cx="3291840" cy="29260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0F1C30"/>
                </a:solidFill>
                <a:latin typeface="Aptos"/>
              </a:rPr>
              <a:t>output from code cell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97680"/>
            <a:ext cx="4389120" cy="5486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5B6B7B"/>
                </a:solidFill>
                <a:latin typeface="Aptos"/>
              </a:rPr>
              <a:t>Two bottom-row Pclass=3 histogram groups, split by survival status.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166360"/>
            <a:ext cx="18288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8543"/>
                </a:solidFill>
                <a:latin typeface="Aptos"/>
              </a:rPr>
              <a:t>confidence 0.84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5166360" cy="443484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737360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ACD0DA"/>
                </a:solidFill>
                <a:latin typeface="Aptos"/>
              </a:rPr>
              <a:t>Localized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95728"/>
            <a:ext cx="1828800" cy="1965960"/>
          </a:xfrm>
          <a:prstGeom prst="roundRect">
            <a:avLst>
              <a:gd name="adj" fmla="val 8000"/>
            </a:avLst>
          </a:prstGeom>
          <a:solidFill>
            <a:srgbClr val="3D576D"/>
          </a:solidFill>
          <a:ln>
            <a:solidFill>
              <a:srgbClr val="658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2395728"/>
            <a:ext cx="1828800" cy="1965960"/>
          </a:xfrm>
          <a:prstGeom prst="roundRect">
            <a:avLst>
              <a:gd name="adj" fmla="val 8000"/>
            </a:avLst>
          </a:prstGeom>
          <a:solidFill>
            <a:srgbClr val="3D576D"/>
          </a:solidFill>
          <a:ln>
            <a:solidFill>
              <a:srgbClr val="658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14032" y="3429000"/>
            <a:ext cx="1417320" cy="5029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54312" y="3429000"/>
            <a:ext cx="1417320" cy="5029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587752"/>
            <a:ext cx="12801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Pclass=3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2587752"/>
            <a:ext cx="132588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survival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800600"/>
            <a:ext cx="2560320" cy="5486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tight rectangles</a:t>
            </a:r>
            <a:br/>
            <a:r>
              <a:t>normalized 0-1000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80760"/>
            <a:ext cx="107899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The user-reported run produced two relationships; this saved artifact contains the representative example shown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titanic.linkmaker.json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RECENT MARKDOWN/CODE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What output text adds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82296" cy="141732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49 /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code cells with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94.2% of code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82296" cy="14173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5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14,641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extracted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Titanic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82296" cy="1417320"/>
          </a:xfrm>
          <a:prstGeom prst="rect">
            <a:avLst/>
          </a:prstGeom>
          <a:solidFill>
            <a:srgbClr val="169793"/>
          </a:solidFill>
          <a:ln>
            <a:solidFill>
              <a:srgbClr val="1697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+34.2%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prompt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with output fields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14173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417320"/>
            <a:ext cx="82296" cy="1417320"/>
          </a:xfrm>
          <a:prstGeom prst="rect">
            <a:avLst/>
          </a:prstGeom>
          <a:solidFill>
            <a:srgbClr val="EB8543"/>
          </a:solidFill>
          <a:ln>
            <a:solidFill>
              <a:srgbClr val="EB8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1976" y="1581912"/>
            <a:ext cx="210312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182330"/>
                </a:solidFill>
                <a:latin typeface="Aptos Display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30552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5B6B7B"/>
                </a:solidFill>
                <a:latin typeface="Aptos"/>
              </a:rPr>
              <a:t>tests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459736"/>
            <a:ext cx="21031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0">
                <a:solidFill>
                  <a:srgbClr val="5B6B7B"/>
                </a:solidFill>
                <a:latin typeface="Aptos"/>
              </a:rPr>
              <a:t>software compatibility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5349240" cy="205740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39312"/>
            <a:ext cx="21945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69793"/>
                </a:solidFill>
                <a:latin typeface="Aptos"/>
              </a:rPr>
              <a:t>Concrete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005072"/>
            <a:ext cx="4526280" cy="6858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000" b="1">
                <a:solidFill>
                  <a:srgbClr val="182330"/>
                </a:solidFill>
                <a:latin typeface="Aptos"/>
              </a:rPr>
              <a:t>The Titanic model-summary output exposes actual scores, including 86.76 for both Random Forest and Decision Tree.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2040"/>
            <a:ext cx="448056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5B6B7B"/>
                </a:solidFill>
                <a:latin typeface="Aptos"/>
              </a:rPr>
              <a:t>That evidence is unavailable from variable names alone.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37560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39312"/>
            <a:ext cx="22860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Current 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05072"/>
            <a:ext cx="4343400" cy="8686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182330"/>
                </a:solidFill>
                <a:latin typeface="Aptos"/>
              </a:rPr>
              <a:t>The review did not run a live accuracy comparison. More context can increase tokens, latency, warnings, or stale-output risk.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33872"/>
            <a:ext cx="10607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0F1C30"/>
                </a:solidFill>
                <a:latin typeface="Aptos"/>
              </a:rPr>
              <a:t>Evidence quality improved; model accuracy remains unproven.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evaluation/output_context_review.md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MARKDOWN-TO-CODE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Archived benchmark: tradeoffs are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789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Aptos"/>
              </a:rPr>
              <a:t>Frozen Titanic benchmark: 36 unique ground-truth Markdown/code pairs. Metrics are pooled across archived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01952"/>
            <a:ext cx="2743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Readout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10881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76856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GPT-5 mini,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71.2%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73.1%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76856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72.1%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276856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best balance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07208"/>
            <a:ext cx="10881360" cy="512064"/>
          </a:xfrm>
          <a:prstGeom prst="rect">
            <a:avLst/>
          </a:prstGeom>
          <a:solidFill>
            <a:srgbClr val="F5F9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35224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GPT-5.4 mini,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53.0%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88.9%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935224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66.4%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35224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highest 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65576"/>
            <a:ext cx="108813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93592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GPT-5 nano,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83.3%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13.9%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593592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23.8%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59359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precise, sparse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23944"/>
            <a:ext cx="10881360" cy="512064"/>
          </a:xfrm>
          <a:prstGeom prst="rect">
            <a:avLst/>
          </a:prstGeom>
          <a:solidFill>
            <a:srgbClr val="F5F9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51960"/>
            <a:ext cx="3383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182330"/>
                </a:solidFill>
                <a:latin typeface="Aptos"/>
              </a:rPr>
              <a:t>Current saved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64.9%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66.7%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251960"/>
            <a:ext cx="1005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182330"/>
                </a:solidFill>
                <a:latin typeface="Aptos"/>
              </a:rPr>
              <a:t>65.8%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51960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5B6B7B"/>
                </a:solidFill>
                <a:latin typeface="Aptos"/>
              </a:rPr>
              <a:t>single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074920"/>
            <a:ext cx="10881360" cy="77724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03520"/>
            <a:ext cx="1097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ACD0DA"/>
                </a:solidFill>
                <a:latin typeface="Aptos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257800"/>
            <a:ext cx="9052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More links can raise recall while lowering precision. The output-context change still needs a controlled repeated comparison.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evaluation/output_context_review.md + archived run 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ADDITIONAL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Cost and linking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98448"/>
            <a:ext cx="10789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5B6B7B"/>
                </a:solidFill>
                <a:latin typeface="Aptos"/>
              </a:rPr>
              <a:t>The two reported runs point to a useful presentation question: how much evidence does each dollar buy?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Input /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Estimated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Observed linking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901952"/>
            <a:ext cx="20116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1">
                <a:solidFill>
                  <a:srgbClr val="169793"/>
                </a:solidFill>
                <a:latin typeface="Aptos"/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57984"/>
            <a:ext cx="10881360" cy="603504"/>
          </a:xfrm>
          <a:prstGeom prst="rect">
            <a:avLst/>
          </a:prstGeom>
          <a:solidFill>
            <a:srgbClr val="EBF1F8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95144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GPT-5.4-mini-2026-03-17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295144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295144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$0.009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95144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1 relationship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295144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reported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07791"/>
            <a:ext cx="10881360" cy="603504"/>
          </a:xfrm>
          <a:prstGeom prst="rect">
            <a:avLst/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44951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GPT-5.6-terra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44951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044951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$0.042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044951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count not supplied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44951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output-chart linking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657599"/>
            <a:ext cx="10881360" cy="603504"/>
          </a:xfrm>
          <a:prstGeom prst="rect">
            <a:avLst/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94759"/>
            <a:ext cx="27889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GPT-5.6-luna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794759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182330"/>
                </a:solidFill>
                <a:latin typeface="Aptos"/>
              </a:rPr>
              <a:t>9,000 / 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794759"/>
            <a:ext cx="13258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EB8543"/>
                </a:solidFill>
                <a:latin typeface="Aptos"/>
              </a:rPr>
              <a:t>~$0.030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794759"/>
            <a:ext cx="19202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182330"/>
                </a:solidFill>
                <a:latin typeface="Aptos"/>
              </a:rPr>
              <a:t>2 relationships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794759"/>
            <a:ext cx="118872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Aptos"/>
              </a:rPr>
              <a:t>reported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38928"/>
            <a:ext cx="1371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ACD0DA"/>
                </a:solidFill>
                <a:latin typeface="Aptos"/>
              </a:rPr>
              <a:t>Quality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074920"/>
            <a:ext cx="854964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GPT-5.4-mini is the cheapest but returned only one relationship. Terra has a higher measured cost for the output-chart task; its relationship count must be added before making a direct yield comparison.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053328"/>
            <a:ext cx="10698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0">
                <a:solidFill>
                  <a:srgbClr val="5B6B7B"/>
                </a:solidFill>
                <a:latin typeface="Aptos"/>
              </a:rPr>
              <a:t>Costs use the token prices supplied for GPT-5.4-mini and the earlier estimate retained for Terra and Luna.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User-provided model run summaries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85DCD3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The presentation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5303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85DCD3"/>
                </a:solidFill>
                <a:latin typeface="Aptos"/>
              </a:rPr>
              <a:t>A practical proof of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93392"/>
            <a:ext cx="516636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Luna produced a small set of output-grounded links at low estimated cost. The links are inspectable, localized, and useful for showing how notebook prose relates to rendered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554480"/>
            <a:ext cx="49377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FFB87B"/>
                </a:solidFill>
                <a:latin typeface="Aptos"/>
              </a:rPr>
              <a:t>A research question remains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93392"/>
            <a:ext cx="5074920" cy="1234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Execution text clearly enriches the evidence available to the model. It has not yet been shown to improve precision, recall, or F1 on a controlled benchmark.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10744200" cy="1051560"/>
          </a:xfrm>
          <a:prstGeom prst="roundRect">
            <a:avLst>
              <a:gd name="adj" fmla="val 8000"/>
            </a:avLst>
          </a:prstGeom>
          <a:solidFill>
            <a:srgbClr val="1B3047"/>
          </a:solidFill>
          <a:ln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315968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ACD0DA"/>
                </a:solidFill>
                <a:latin typeface="Aptos"/>
              </a:rPr>
              <a:t>Next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279392"/>
            <a:ext cx="8183879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Run source-only vs output-aware conditions with the same notebook, model, reasoning, validation, and at least three repeats.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422392"/>
            <a:ext cx="99669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D4E1EA"/>
                </a:solidFill>
                <a:latin typeface="Aptos"/>
              </a:rPr>
              <a:t>Measure precision, recall, F1, invalid spans, latency, input/output tokens, and run-to-run variation.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Recommended next step from the evaluation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2920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900" b="1">
                <a:solidFill>
                  <a:srgbClr val="169793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800" b="1">
                <a:solidFill>
                  <a:srgbClr val="182330"/>
                </a:solidFill>
                <a:latin typeface="Aptos Display"/>
              </a:rPr>
              <a:t>Sources and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08760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Run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444752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User-provided summary: GPT-5.6 Luna, approximately 9k input tokens, 1k output tokens, two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03704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295144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Saved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231136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titanic.linkmaker.json records outputModel = gpt-5.6-luna and a representative output-grounded relationship.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081528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017520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README.md and LinkMaker/routes.py describe output text extraction, source targeting, and output localization.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76472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867911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803904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evaluation/output_context_review.md, evaluation/titanic_link_review.md, and archived run JSON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62856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654296"/>
            <a:ext cx="1325880" cy="182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100" b="1">
                <a:solidFill>
                  <a:srgbClr val="169793"/>
                </a:solidFill>
                <a:latin typeface="Aptos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590288"/>
            <a:ext cx="84582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182330"/>
                </a:solidFill>
                <a:latin typeface="Aptos"/>
              </a:rPr>
              <a:t>Illustrative estimate using $2 per million input tokens and $12 per million output tokens: $0.018 + $0.012 = $0.030.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23560"/>
            <a:ext cx="10744200" cy="502920"/>
          </a:xfrm>
          <a:prstGeom prst="roundRect">
            <a:avLst>
              <a:gd name="adj" fmla="val 8000"/>
            </a:avLst>
          </a:prstGeom>
          <a:solidFill>
            <a:srgbClr val="FCF3EB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779008"/>
            <a:ext cx="1014984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300" b="1">
                <a:solidFill>
                  <a:srgbClr val="EB8543"/>
                </a:solidFill>
                <a:latin typeface="Aptos"/>
              </a:rPr>
              <a:t>The deck presents the Luna run as a feasibility result and does not claim a causal accuracy improvement.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046720" cy="16459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800" b="0">
                <a:solidFill>
                  <a:srgbClr val="5B6B7B"/>
                </a:solidFill>
                <a:latin typeface="Aptos"/>
              </a:rPr>
              <a:t>Prepared from the current workspace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900" b="1">
                <a:solidFill>
                  <a:srgbClr val="5B6B7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