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1372657f04144" /><Relationship Type="http://schemas.openxmlformats.org/officeDocument/2006/relationships/extended-properties" Target="/docProps/app.xml" Id="R446ee1c1e3de404f" /><Relationship Type="http://schemas.openxmlformats.org/officeDocument/2006/relationships/officeDocument" Target="/ppt/presentation.xml" Id="R83a31b972018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a4b49547d64665"/>
  </p:sldMasterIdLst>
  <p:notesMasterIdLst>
    <p:notesMasterId xmlns:r="http://schemas.openxmlformats.org/officeDocument/2006/relationships" r:id="R5b870eb2c0b84e1c"/>
  </p:notesMasterIdLst>
  <p:sldIdLst>
    <p:sldId xmlns:r="http://schemas.openxmlformats.org/officeDocument/2006/relationships" id="256" r:id="Rc8a22ebfd0c7463d"/>
    <p:sldId xmlns:r="http://schemas.openxmlformats.org/officeDocument/2006/relationships" id="257" r:id="Re5ebbed31f2241ac"/>
    <p:sldId xmlns:r="http://schemas.openxmlformats.org/officeDocument/2006/relationships" id="258" r:id="R25331d07507a486b"/>
    <p:sldId xmlns:r="http://schemas.openxmlformats.org/officeDocument/2006/relationships" id="259" r:id="R123fde07161b45f5"/>
    <p:sldId xmlns:r="http://schemas.openxmlformats.org/officeDocument/2006/relationships" id="260" r:id="Rc7ba66cf2b854a0b"/>
    <p:sldId xmlns:r="http://schemas.openxmlformats.org/officeDocument/2006/relationships" id="261" r:id="R1152cd79d4e14e6e"/>
    <p:sldId xmlns:r="http://schemas.openxmlformats.org/officeDocument/2006/relationships" id="262" r:id="R1577a0e3e6824501"/>
    <p:sldId xmlns:r="http://schemas.openxmlformats.org/officeDocument/2006/relationships" id="263" r:id="R4fe4d9c9427b4e46"/>
    <p:sldId xmlns:r="http://schemas.openxmlformats.org/officeDocument/2006/relationships" id="264" r:id="Rfefae095447f47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e15fdaed6426a" /><Relationship Type="http://schemas.openxmlformats.org/officeDocument/2006/relationships/slideMaster" Target="/ppt/slideMasters/slideMaster1.xml" Id="R4da4b49547d64665" /><Relationship Type="http://schemas.openxmlformats.org/officeDocument/2006/relationships/notesMaster" Target="/ppt/notesMasters/notesMaster1.xml" Id="R5b870eb2c0b84e1c" /><Relationship Type="http://schemas.openxmlformats.org/officeDocument/2006/relationships/presProps" Target="/ppt/presProps.xml" Id="Ra3c3ff7f44474d36" /><Relationship Type="http://schemas.openxmlformats.org/officeDocument/2006/relationships/tableStyles" Target="/ppt/tableStyles.xml" Id="Rf8803bf4ed214dfa" /><Relationship Type="http://schemas.openxmlformats.org/officeDocument/2006/relationships/slide" Target="/ppt/slides/slide1.xml" Id="Rc8a22ebfd0c7463d" /><Relationship Type="http://schemas.openxmlformats.org/officeDocument/2006/relationships/slide" Target="/ppt/slides/slide2.xml" Id="Re5ebbed31f2241ac" /><Relationship Type="http://schemas.openxmlformats.org/officeDocument/2006/relationships/slide" Target="/ppt/slides/slide3.xml" Id="R25331d07507a486b" /><Relationship Type="http://schemas.openxmlformats.org/officeDocument/2006/relationships/slide" Target="/ppt/slides/slide4.xml" Id="R123fde07161b45f5" /><Relationship Type="http://schemas.openxmlformats.org/officeDocument/2006/relationships/slide" Target="/ppt/slides/slide5.xml" Id="Rc7ba66cf2b854a0b" /><Relationship Type="http://schemas.openxmlformats.org/officeDocument/2006/relationships/slide" Target="/ppt/slides/slide6.xml" Id="R1152cd79d4e14e6e" /><Relationship Type="http://schemas.openxmlformats.org/officeDocument/2006/relationships/slide" Target="/ppt/slides/slide7.xml" Id="R1577a0e3e6824501" /><Relationship Type="http://schemas.openxmlformats.org/officeDocument/2006/relationships/slide" Target="/ppt/slides/slide8.xml" Id="R4fe4d9c9427b4e46" /><Relationship Type="http://schemas.openxmlformats.org/officeDocument/2006/relationships/slide" Target="/ppt/slides/slide9.xml" Id="Rfefae095447f47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fd60454464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9072316f8148b5" /><Relationship Type="http://schemas.openxmlformats.org/officeDocument/2006/relationships/notesMaster" Target="/ppt/notesMasters/notesMaster1.xml" Id="R52c1b809196a4a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15c3314bd4978" /><Relationship Type="http://schemas.openxmlformats.org/officeDocument/2006/relationships/notesMaster" Target="/ppt/notesMasters/notesMaster1.xml" Id="R889e29a2cf8946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53ea922f174493" /><Relationship Type="http://schemas.openxmlformats.org/officeDocument/2006/relationships/notesMaster" Target="/ppt/notesMasters/notesMaster1.xml" Id="Rcd03c8e21ba844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76daef21ec4bff" /><Relationship Type="http://schemas.openxmlformats.org/officeDocument/2006/relationships/notesMaster" Target="/ppt/notesMasters/notesMaster1.xml" Id="R6f45dad4c4904f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ed989ab6245b2" /><Relationship Type="http://schemas.openxmlformats.org/officeDocument/2006/relationships/notesMaster" Target="/ppt/notesMasters/notesMaster1.xml" Id="R2ebcdb9def634a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c22feb08984576" /><Relationship Type="http://schemas.openxmlformats.org/officeDocument/2006/relationships/notesMaster" Target="/ppt/notesMasters/notesMaster1.xml" Id="Rade35480836f4f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d8192d7f53458a" /><Relationship Type="http://schemas.openxmlformats.org/officeDocument/2006/relationships/notesMaster" Target="/ppt/notesMasters/notesMaster1.xml" Id="Rc76dd04deb954f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660e25119a435a" /><Relationship Type="http://schemas.openxmlformats.org/officeDocument/2006/relationships/notesMaster" Target="/ppt/notesMasters/notesMaster1.xml" Id="R96082dcd96a74a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db5b7b3530440a" /><Relationship Type="http://schemas.openxmlformats.org/officeDocument/2006/relationships/notesMaster" Target="/ppt/notesMasters/notesMaster1.xml" Id="Ra96eda6acc82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convert the professor's feedback into a defensible research plan. The proposed contribution remains a hypothesis until the formative study validates the target users and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https://arxiv.org/abs/2502.16114 ; https://arxiv.org/abs/2102.12592 ; https://hci.stanford.edu/courses/cs448b/papers/shneiderman96eyes.pdf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InterLink states that relationship specification is future work and studies the presentation of specified links. For its evaluation, two formative-study participants annotated relationships and reviewed/refined them with the authors. Source: https://arxiv.org/html/2502.16114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parts should not be claimed as validated contributions yet. The formative study and staged evaluations establish which parts solve real tasks and which should be removed or revised.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InterLink used semi-structured interviews with six experienced shared-notebook users. Participants inspected a notebook for up to 20 minutes and discussed challenges and desired features. This proposal adds critical-incident and resumption probes targeted to LinkMaker. Source: https://arxiv.org/html/2502.16114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hypotheses map each proposed function to a measurable outcome. Results may reject any feature; that is preferable to positioning an unvalidated feature as the contribution.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InterLink's evaluation relationships were manually annotated and refined, which provides a useful precedent for ground-truth creation. LinkMaker must additionally evaluate automatic inference. Source: https://arxiv.org/html/2502.16114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InterLink used a within-subject design with 12 participants, two notebooks, counterbalancing, task accuracy, confidence, completion time, inverse efficiency, SUS/Likert ratings and qualitative feedback. It reported a 13.6% accuracy improvement. Source: https://arxiv.org/abs/2502.16114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next artifacts: interview guide, consent/recruitment plan, annotation handbook, frozen notebook benchmark, analysis plan and pilot protocol. Related sources: InterLink https://arxiv.org/abs/2502.16114 ; Themisto https://arxiv.org/abs/2102.12592 ; Voder https://www.microsoft.com/en-us/research/publication/augmenting-visualizations-with-interactive-data-facts-to-facilitate-interpretation-and-communication/ ; Shneiderman https://hci.stanford.edu/courses/cs448b/papers/shneiderman96eyes.pdf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4bf2ae0dc4f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42f92462b4a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6878dce3d41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a388fb4ce4b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59399aadc41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d49551e04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951EA7-9DDC-455D-8573-386CC8166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6297AD-047D-4CCA-8D14-121CD315E8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B43E71-898D-4408-B9E5-B36951C64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3ACA04-FC97-4F81-A09E-8854A25C8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032747-3508-493D-8AD6-D871949068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9902B2-BCFB-48C2-A2E2-7C941E895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8098C7-985E-42A8-ACC2-15BB4336C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C357A7-A2FC-459E-ADA6-8AC5C44615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0038E4-899F-4F7B-9BD3-D835BBBD7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7F337B-CE07-4B86-AA36-C66839506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ccb06458e24ca9" /><Relationship Type="http://schemas.openxmlformats.org/officeDocument/2006/relationships/slideLayout" Target="/ppt/slideLayouts/slideLayout1.xml" Id="R4cb9cae6e7804068" /><Relationship Type="http://schemas.openxmlformats.org/officeDocument/2006/relationships/slideLayout" Target="/ppt/slideLayouts/slideLayout2.xml" Id="R70f32fe1b55a4f7d" /><Relationship Type="http://schemas.openxmlformats.org/officeDocument/2006/relationships/slideLayout" Target="/ppt/slideLayouts/slideLayout3.xml" Id="R5f6241a7057b4074" /><Relationship Type="http://schemas.openxmlformats.org/officeDocument/2006/relationships/slideLayout" Target="/ppt/slideLayouts/slideLayout4.xml" Id="Ra6536407e2a945b5" /><Relationship Type="http://schemas.openxmlformats.org/officeDocument/2006/relationships/slideLayout" Target="/ppt/slideLayouts/slideLayout5.xml" Id="Rfea7eadf524c4ed4" /><Relationship Type="http://schemas.openxmlformats.org/officeDocument/2006/relationships/slideLayout" Target="/ppt/slideLayouts/slideLayout6.xml" Id="R9bb7ab3302184e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b9cae6e7804068"/>
    <p:sldLayoutId xmlns:r="http://schemas.openxmlformats.org/officeDocument/2006/relationships" id="2147483650" r:id="R70f32fe1b55a4f7d"/>
    <p:sldLayoutId xmlns:r="http://schemas.openxmlformats.org/officeDocument/2006/relationships" id="2147483651" r:id="R5f6241a7057b4074"/>
    <p:sldLayoutId xmlns:r="http://schemas.openxmlformats.org/officeDocument/2006/relationships" id="2147483652" r:id="Ra6536407e2a945b5"/>
    <p:sldLayoutId xmlns:r="http://schemas.openxmlformats.org/officeDocument/2006/relationships" id="2147483653" r:id="Rfea7eadf524c4ed4"/>
    <p:sldLayoutId xmlns:r="http://schemas.openxmlformats.org/officeDocument/2006/relationships" id="2147483654" r:id="R9bb7ab3302184e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a6706f517459f" /><Relationship Type="http://schemas.openxmlformats.org/officeDocument/2006/relationships/notesSlide" Target="/ppt/notesSlides/notesSlide1.xml" Id="R152eadc2dcdb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ca01590534c00" /><Relationship Type="http://schemas.openxmlformats.org/officeDocument/2006/relationships/notesSlide" Target="/ppt/notesSlides/notesSlide2.xml" Id="R5d7aa1e451f9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5f5ef10d94de6" /><Relationship Type="http://schemas.openxmlformats.org/officeDocument/2006/relationships/notesSlide" Target="/ppt/notesSlides/notesSlide3.xml" Id="R4dd46b47cd9d46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cbb91362647f7" /><Relationship Type="http://schemas.openxmlformats.org/officeDocument/2006/relationships/notesSlide" Target="/ppt/notesSlides/notesSlide4.xml" Id="R71648ff39505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55c53cc404117" /><Relationship Type="http://schemas.openxmlformats.org/officeDocument/2006/relationships/notesSlide" Target="/ppt/notesSlides/notesSlide5.xml" Id="R451a5b4a7ea6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a1a1cabda4002" /><Relationship Type="http://schemas.openxmlformats.org/officeDocument/2006/relationships/notesSlide" Target="/ppt/notesSlides/notesSlide6.xml" Id="R9ef670c24d1545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d4dd2be1d40e4" /><Relationship Type="http://schemas.openxmlformats.org/officeDocument/2006/relationships/notesSlide" Target="/ppt/notesSlides/notesSlide7.xml" Id="Rd1e09ab9385942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4cefd53e34388" /><Relationship Type="http://schemas.openxmlformats.org/officeDocument/2006/relationships/notesSlide" Target="/ppt/notesSlides/notesSlide8.xml" Id="R99063aa6f80741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52141aecb427a" /><Relationship Type="http://schemas.openxmlformats.org/officeDocument/2006/relationships/notesSlide" Target="/ppt/notesSlides/notesSlide9.xml" Id="R4addec91cf4b4d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0A308-BBB9-4855-86FA-ABA0F38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18F20-B0B9-49B1-809B-15CD45CF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"/>
            <a:ext cx="1676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7158A-7D3D-43AA-BC80-E5A5842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RESEARCH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8902C-3E95-42D4-B068-16ABF3F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322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From automatic links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322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to explainable notebook navigation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AF1C9-5D0F-442F-A94F-0FCD2A19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rPr>
              <a:t>Functional differentiation · formative study · technical evaluation · user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BFC75-7E12-4310-A560-8A52C263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12A39-8624-4596-8D98-5585DB8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LinkMaker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E0B2C-E95A-4888-BA96-D043017C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rPr>
              <a:t>Methodology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7401C-B706-4C5A-8661-D0B52A9B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r">
              <a:defRPr sz="10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0">
                <a:solidFill>
                  <a:srgbClr val="C9D7DE"/>
                </a:solidFill>
                <a:latin typeface="AR PL KaitiM Big5"/>
                <a:ea typeface="AR PL KaitiM Big5"/>
                <a:cs typeface="AR PL KaitiM Big5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628230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2A380-6C46-426E-899D-B90F52F8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6F83C-607F-4908-A54E-3FED68A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INTERPRETATION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82B50-C22C-402F-ABCE-1251D754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What the literature supports — and what it does not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EF17E-5092-46F3-9494-B11DAAF9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A6895-4FD2-4DB8-A1F7-FF99C307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DD9EC-00E7-4D29-BDE7-97922933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4766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C1CE8-139D-4F4B-B6A8-4EFD224C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66675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F6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AC49E-4DCA-4022-88E3-ABA7A9D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309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Supported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D53EA-10A7-4EB5-B346-610F4049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076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Formative evidence can reveal pain points and turn them into design requirements. InterLink used interviews; Themisto used an in-depth analysis of 80 notebooks.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E9BF4-31EB-487B-840C-BD250E6A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71625"/>
            <a:ext cx="34766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B53E8-5281-4A51-8CFC-CA89B6D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71625"/>
            <a:ext cx="66675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33BA0-165D-4BB4-AB91-12EB5FA0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43075"/>
            <a:ext cx="309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5115D-5F3F-4B5C-A7CC-4616E13D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3076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Overview, zoom, filter, details-on-demand, relate, history and extract are established information-seeking tasks.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FB562-EBE3-4C70-B610-178B68D5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71625"/>
            <a:ext cx="34766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0308B-2C97-4162-ABE8-06E3D7DF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71625"/>
            <a:ext cx="66675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E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3C3F9-F2EA-4BE0-A4C0-DA13746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43075"/>
            <a:ext cx="309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Needs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C27E1-800F-4E63-BFD3-213F05E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3076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History is not automatically a contribution. The novelty must be the specific history behavior, target task and measured benefit.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91758-8B09-4E07-BB61-23E26C31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11347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0814B-FD8F-421E-BBC5-29B58078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95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83735-AFC4-4570-B75B-1047D17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577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02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Your reasoning is aligned. Reframe “history” as a testable design hypothesis: a semantic trail of visited relationships that helps readers resume, revisit and compare evidence across code, Markdown and outputs.</a:t>
            </a:r>
          </a:p>
        </p:txBody>
      </p:sp>
    </p:spTree>
    <p:extLst>
      <p:ext uri="{BB962C8B-B14F-4D97-AF65-F5344CB8AC3E}">
        <p14:creationId xmlns:p14="http://schemas.microsoft.com/office/powerpoint/2010/main" val="722804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6EF22-29E8-4F81-BB63-47665FBD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46268-4C80-406A-AC4E-72223029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1B20E-C41D-4A3C-977B-042430EB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The defensible gap relative to InterLink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68038-7D42-45DD-A5C0-F90E16B2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F2660-BD1E-4960-A30B-6148CD37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1A2D9-9C43-43F6-9481-6FC0E5C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INTERLINK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85950-043A-429F-B09E-6FAE3892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525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LINKMAKER OPPORTUNITY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9F362-9E10-4528-AEB9-2640ACFC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9053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8CD21-DA1C-483A-B707-BE9E59C8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46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5ECC6-A036-4D1B-B422-E3144177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Presents pre-specified relationships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A5776-2B02-4DED-8BA6-2D775132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Infers candidate relationships automatically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5024F-C7C7-422B-BACB-D8FE4AA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24075"/>
            <a:ext cx="400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02"/>
          </a:bodyPr>
          <a:lstStyle xmlns:a="http://schemas.openxmlformats.org/drawingml/2006/main">
            <a:def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1C25C-BD33-45EB-9B68-6755313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86075"/>
            <a:ext cx="49053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1604-6144-4094-AD53-CA27524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86075"/>
            <a:ext cx="546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20A38-3BC0-435A-B8B7-B4D3BD25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Optimizes layout and navigation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8CC2E-6C1D-48AB-A9A2-F927D8C5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Shows exact evidence, reason and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059D2-D987-4CEB-B949-9F57BD74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57525"/>
            <a:ext cx="400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02"/>
          </a:bodyPr>
          <a:lstStyle xmlns:a="http://schemas.openxmlformats.org/drawingml/2006/main">
            <a:def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8AEAB-62DA-44B3-9E0F-0FA3BFF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9525"/>
            <a:ext cx="49053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2218E-CE10-4521-B05F-B89C001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46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3F6D3-3CFE-44D1-B1F3-4FE3537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624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Uses manually reviewed link sets in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82026-243A-4628-B391-59606D0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Measures link quality against expert annotations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040E5-CF5B-4126-AC14-3849D02A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90975"/>
            <a:ext cx="400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02"/>
          </a:bodyPr>
          <a:lstStyle xmlns:a="http://schemas.openxmlformats.org/drawingml/2006/main">
            <a:def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9A652-C94A-47A6-8A6A-FDECEED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52975"/>
            <a:ext cx="49053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E7857-A869-4EF2-9096-99A49A6D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46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9C248-4103-4059-848A-2B88AA2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Two-column reading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6FB7E-7245-4549-A3DF-4ED7E7ED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958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486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Tests code-first progressive disclosure and semantic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4FD0B-4F8A-41D1-A804-7F24D9C9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24425"/>
            <a:ext cx="400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02"/>
          </a:bodyPr>
          <a:lstStyle xmlns:a="http://schemas.openxmlformats.org/drawingml/2006/main">
            <a:def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E9050-1B57-4F0A-8D9F-D4BCC8E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12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Primary contribution candidate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D21B1-D548-47D4-AC45-8E81F49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102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0"/>
          </a:bodyPr>
          <a:lstStyle xmlns:a="http://schemas.openxmlformats.org/drawingml/2006/main">
            <a:defPPr algn="l">
              <a:defRPr sz="16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Automatic, inspectable relationship creation + navigation designed around evidence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127479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CF753-685C-4A11-8736-4F9AAF9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9EB8-AC04-4B9E-B840-A3D053BA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PROPOSED DIFFERENTIAL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39CE1-3538-45FC-8206-77B579F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A three-part functional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1431F-860A-4BF9-800C-FF315F63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51538-32F9-494D-813C-62B997D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E691E-F39E-4E2B-9465-E408481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ADA28-4A2A-4916-9F9B-72A213EE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F55DD-3CD7-4EA0-B287-D7C8E6C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47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BCCBA-A013-4146-8962-A4053CC0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86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Automatic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1AFD7-2486-4504-A88F-141D919B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528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Create multi-granular Markdown–code–output candidates; use output text and generating code as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A89A5-9200-4FE0-9D8D-DDD288E1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BB743-5AFC-45C3-AC33-713549C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716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AB865-79E1-4D85-9893-281E183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47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11DF9-75D2-4C3A-BEEF-1DF8B90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86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Inspectable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A2D54-DAE0-4F75-92F5-C8A78BA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528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Expose exact spans, localized chart/table regions, confidence and a human-readable reason.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9C9F0-CA4C-426B-A956-F595781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9A35E-2DF8-4AB2-A5A0-63A2CF9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716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8E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ED102-4E5B-4423-B97D-64198B73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47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27E2D-1380-4180-9453-10C5676E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86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Semantic 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E2D64-0C2C-422F-9A2E-D9CF38D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528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Code-first overview, on-demand related text, focus mode and a trail for resuming prior relationship visits.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67315-98E1-496D-B9A6-DCF11CDA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62575"/>
            <a:ext cx="107632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A6D09-4DEC-48D7-B60B-BC27C709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Research claim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24090-205B-47D1-B713-8DEB1A18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429250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683"/>
          </a:bodyPr>
          <a:lstStyle xmlns:a="http://schemas.openxmlformats.org/drawingml/2006/main">
            <a:def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The value is not “more links”; it is faster and more accurate verification of why notebook elements belong together.</a:t>
            </a:r>
          </a:p>
        </p:txBody>
      </p:sp>
    </p:spTree>
    <p:extLst>
      <p:ext uri="{BB962C8B-B14F-4D97-AF65-F5344CB8AC3E}">
        <p14:creationId xmlns:p14="http://schemas.microsoft.com/office/powerpoint/2010/main" val="526934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1F970D-C87D-4BDE-9923-2E0D0FF2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6AE8E-656F-4F71-ADCF-D8923B5D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3208-B68C-47B3-819E-4DD7AAA0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Formative study: turn assumptions into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C3356-BD48-49FC-A804-CF4416EC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575C9-AADF-4C85-8D25-4E6EB2E3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94465-19DE-41E4-B9BB-95F753D8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476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0EEEC-FF77-4CE4-8471-7235A42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52266-B3F5-4C11-84F6-2244588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3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2EF2B-323A-40E9-AB9F-1B1C5A2B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Recruit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95614-844C-4C18-A69A-420DE4B7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6–10 practicing data scientists</a:t>
            </a:r>
          </a:p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with shared-notebook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D76EA-B8C7-4AA8-99A4-73D7CDF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81300"/>
            <a:ext cx="257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294"/>
          </a:bodyPr>
          <a:lstStyle xmlns:a="http://schemas.openxmlformats.org/drawingml/2006/main">
            <a:defPPr algn="ctr">
              <a:def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18385-EEE0-40C3-B26D-39EC9F4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76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D0EAA-DB0C-445D-B2E1-01AEF88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977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0CAE9-BB4A-49D2-8C2E-8A90E091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3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D3275-5E3C-49CE-AA57-1C38E65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82B27-1D45-4ED1-9F6D-BE4E4E17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0375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Walk through a recent unfamiliar notebook; think aloud and identify breakdowns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67E95-7A66-4149-A2DC-0484F02A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81300"/>
            <a:ext cx="257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294"/>
          </a:bodyPr>
          <a:lstStyle xmlns:a="http://schemas.openxmlformats.org/drawingml/2006/main">
            <a:defPPr algn="ctr">
              <a:def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E7D71-0AB7-4978-9511-3DAAA2C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476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56090-2F7F-410F-91DA-7DADEF08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5AAAD-9F58-4530-93DD-A05347FA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3835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3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4FC9F-69C9-4F1A-8DB0-ACB68501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Probe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DEB59-81F1-4578-8711-63D237E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27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Critical incidents: finding evidence, revisiting results, checking outputs, trusting links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13E51-50BB-4798-9308-564C28D7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81300"/>
            <a:ext cx="257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294"/>
          </a:bodyPr>
          <a:lstStyle xmlns:a="http://schemas.openxmlformats.org/drawingml/2006/main">
            <a:defPPr algn="ctr">
              <a:def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80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877CE-0A72-40B8-8AE7-BCD593E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32ACF-CC8E-401B-823E-C8D0F610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977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35EF1-EFA0-4ED2-BF91-2FCAAECB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3835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3"/>
          </a:bodyPr>
          <a:lstStyle xmlns:a="http://schemas.openxmlformats.org/drawingml/2006/main">
            <a:defPPr algn="ctr">
              <a:defRPr sz="9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E1882-19E6-44DC-BDAD-9792641B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7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Synthesize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241DA-C914-493D-A071-8B029E2E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Thematic analysis → pain points → tasks → design requirements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74BA9A-8EA2-4AC8-B565-E54E4716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38675"/>
            <a:ext cx="10991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2F873-222B-4E4C-8920-1278DDEB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Decision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A9A14A-BF14-4B6B-B09E-16D7A58C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10353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Do users start from code?  •  Do they lose context across distant cells?  •  Does a visit history support real resumption tasks?  •  What evidence makes an automatic link trustworthy?</a:t>
            </a:r>
          </a:p>
        </p:txBody>
      </p:sp>
    </p:spTree>
    <p:extLst>
      <p:ext uri="{BB962C8B-B14F-4D97-AF65-F5344CB8AC3E}">
        <p14:creationId xmlns:p14="http://schemas.microsoft.com/office/powerpoint/2010/main" val="102352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329A5-08FE-4131-8AD0-B41E1701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74D1-F325-4962-AC8A-DDB93D3B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STUDY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3A60C-2920-42CD-9889-2009B630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Research questions and falsifiable hypotheses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A0098-3BD3-443B-99C6-B9A9923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E202C-149F-4207-B91A-79A28B1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0D520-7CCC-4C59-91F7-51DF4950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1ED75-22F8-4A2E-AD2D-E233637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35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047CB-5172-466A-97B9-F46A0380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RQ1 · Link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642E7-B912-4B10-BDB7-C3F55D7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85925"/>
            <a:ext cx="787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Does output-aware context improve the correctness and coverage of inferred relationships?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FC2E7-073A-4BA0-9C56-6BAB72B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28825"/>
            <a:ext cx="787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H1: output text + generating code increases relation F1 over code-only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B529E-6C37-4FA4-8DDA-ADBD00B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34084-0275-4A38-AE23-E625039E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CFB6C-1DA1-41F0-B49E-C7D0E089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RQ2 · Comprehension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358B9-A6DB-45E2-92C9-CB02673A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90825"/>
            <a:ext cx="787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Do inspectable links improve notebook understanding?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89164-DDD4-44EE-BA50-5DF3641F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33725"/>
            <a:ext cx="787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H2: LinkMaker improves accuracy and inverse efficiency over standard Jupyter.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FAB91-890E-40BC-B5BE-4DE36A74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19AC9-AEDA-4C86-B5B3-F440B2CB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433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2177F-319E-4B76-902C-AF23F5B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RQ3 · Resumption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6596D-2773-4F9D-9E2D-26B014D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95725"/>
            <a:ext cx="787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Does semantic history help readers return to prior evidence?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31EF8-3B7F-4E97-806C-F9B8078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38625"/>
            <a:ext cx="787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H3: history reduces revisit time, scrolling and navigation steps.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71BA8-0435-4DCE-9A3E-EEC234E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86325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1CD61-AEDB-4441-83FB-B306422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3867B-708A-4E7C-9ED0-BC28DB1F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RQ4 ·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8522F-DFF4-4713-BCC5-4AEDFC1D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00625"/>
            <a:ext cx="787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Do reasons and exact evidence help users verify suggestions?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CF713-E79F-4DF1-9BE2-AE8CF4FB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43525"/>
            <a:ext cx="787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H4: explanations improve calibrated acceptance and error detection.</a:t>
            </a:r>
          </a:p>
        </p:txBody>
      </p:sp>
    </p:spTree>
    <p:extLst>
      <p:ext uri="{BB962C8B-B14F-4D97-AF65-F5344CB8AC3E}">
        <p14:creationId xmlns:p14="http://schemas.microsoft.com/office/powerpoint/2010/main" val="1916520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8C100B-5E3C-456E-A9FF-CEA366AA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4261B-2383-450F-8593-E11A943E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PHASE 2A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A0D7A-F2B4-41CF-9F6F-2C0BE0E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Technical evaluation of automatic 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D7654-B085-4933-93A1-58A1DD1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5C7AC-C1B6-42C3-B944-EF61C05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C6409-0953-4DEB-BB7E-8A1D8A13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3276600" cy="1838325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7BAB0-2EF2-4B3D-BC00-3636A21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66675" cy="1838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0E7BE-9BAF-4DBD-A976-CEC4DB79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Ground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68712-8691-482D-8461-593E2BC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8765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Two or more annotators label cell pairs, exact spans and output regions. Resolve disagreements and report agreement.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C92E8-0468-42D7-AF94-A6027FF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00200"/>
            <a:ext cx="3276600" cy="1838325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8FDD9-8A6D-4BC1-BBFF-360CABFB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00200"/>
            <a:ext cx="66675" cy="1838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DEFBE-6E30-4D8C-9003-AE4BFBC8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Ablations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F6A10-7877-4F02-9D51-E4DB705A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28765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Code only vs + output text; chart/output alone vs + generating code; full context vs retrieved candidates.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E0E19-DF48-491F-960E-4BDACC6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00200"/>
            <a:ext cx="4048125" cy="1838325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0A313-827E-46CF-ADDA-3F94CF99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00200"/>
            <a:ext cx="66675" cy="1838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E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62AED-B5EC-48C4-8704-03E7C821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5ED2F-8458-4085-A4D5-585DDA6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43125"/>
            <a:ext cx="36480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Cell-link precision, recall and F1; span overlap/IoU; output-region IoU; token cost, latency and failure rate.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01821-D8CC-4FEB-8F89-2B008657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Minimum comparison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FFDE3-40C1-4FE3-A33B-C172EA9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57675"/>
            <a:ext cx="4953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99E66-B807-44D7-8ED1-78D0CCF1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Code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EBE15-28F6-49F1-BAC6-AC0803D4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4953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A32FF-F20A-4045-A668-0DBE0D0D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+ output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AB73E-736B-43A9-BA2A-80487595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76825"/>
            <a:ext cx="4953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1887E-91AC-407C-B01D-EA0BA34B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125" b="0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+ generating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A40BC8-BA27-4E74-AE4A-95E7055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4953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2E89D-4245-4E1D-8E45-CAC004B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125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+ retrieval / reduced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4FACF-7391-4A23-A82B-42BF9A06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57675"/>
            <a:ext cx="58007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5773D-21CD-4E56-9ACC-92E7931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 algn="l">
              <a:defRPr sz="120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rPr>
              <a:t>Success criterion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4BB00-03B7-484C-82C6-4F3BE3E1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5143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17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75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Report improvement with confidence intervals and error categories—not only a single model run or anecdotal examples.</a:t>
            </a:r>
          </a:p>
        </p:txBody>
      </p:sp>
    </p:spTree>
    <p:extLst>
      <p:ext uri="{BB962C8B-B14F-4D97-AF65-F5344CB8AC3E}">
        <p14:creationId xmlns:p14="http://schemas.microsoft.com/office/powerpoint/2010/main" val="1093307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6E8D9-7E13-4642-BD0C-0EBBF49B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D6643-7568-4986-B758-AA49C7EB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PHASE 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8F6D2-E33A-4B44-9D8B-1EB28644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Controlled user study for the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7E7A8-D63A-4B10-A43D-915FB87B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537B3-0EB7-48FB-8CD8-D5F571C1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724FF-81A4-4AC3-B483-5D037E19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41947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DB515-019B-4342-AF92-541C2B6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66675" cy="1914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9E59C-D984-4C35-B65D-B334EA9B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038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842DC-5E97-4292-8D0D-D97E10F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30194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Within-subject, counterbalanced study. Primary baseline: standard Jupyter. Secondary ablation: LinkMaker without semantic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68D30-CFED-41D5-83C0-033C503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341947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6A7A2-B7AC-4CF8-BAFE-5BA4F8A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66675" cy="1914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A377B-194A-412A-949B-FBF0B895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3038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6A736-BF60-4F86-BD84-997864BE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24075"/>
            <a:ext cx="30194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Find a fact; explain code behavior; integrate Markdown, code and output; verify a suggested link; resume after interruption.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97655-3B81-4A35-B828-43A5156A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81150"/>
            <a:ext cx="362902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606FC-58BB-40B6-B3EC-D427F49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81150"/>
            <a:ext cx="66675" cy="1914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E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A9C25-110E-46FF-ACC0-C1F06A70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248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Participants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F8415-A2E2-4DA5-A215-7850ED8B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24075"/>
            <a:ext cx="32289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75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Target practicing data scientists. Use notebooks and domains matched for difficulty; pilot the task set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D8224-C87C-4709-9235-ACEED6A2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Quantitative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111A4-1601-43AE-BC56-1F0F8881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3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Qualitative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8E3B4-75CC-48BE-B662-EF851A91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A7260-88D3-4FA0-ABCD-01F512E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47345-4B09-4001-A748-7C92DA0C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Answer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039F1-88A3-4751-971E-2B2DCC2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910D7-6EB3-4722-B394-F890C2D5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190D5-995A-45C5-9121-29797759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3867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Completion time + 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C73E0-F214-4C10-9CB8-6ECF1A9D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72050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80465-48AD-497A-9699-E193B8BB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3D68D-D7A7-4B63-917F-8E1D3CA8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Confidence calibration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54BC7-BBD6-4645-8C20-B5ED9E24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7EDF4-FC72-4088-933B-268F390A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9078B-7890-4ADE-8BA1-D3F2BD1E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Navigation steps / scroll distance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B0B1F0-CAB3-4A7D-851A-4B435DF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38800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7CD38-E1C9-44CF-8CA6-93F208D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D8D7BD-57CA-440D-A68A-BBDC989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388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Revisit time and history 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46485-3388-4340-AA8F-0D495879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257910-D581-406C-8398-968B18D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AB0633-84DA-4F54-A304-CBC9F75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Think-aloud observations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49F46F-D71B-4E25-8C50-DE13C6E1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38675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2B4F0F-0F31-456C-952A-A25E08E2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C4E679-6818-478B-86A9-AC6ED32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3867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Post-condition questionnaire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B3DB0E-0121-40E0-AAC6-7221F89C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2F87B-703E-4E79-BE2E-CD883472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911102-DAED-40DB-B978-7B66E603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20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SUS or UMUX-Lite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F6C513-2D7D-45BF-8AE7-AAC0C0A2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05425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03DA52-8DF7-4F11-A4FB-4153A64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34000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49E91A-2611-410E-B1E0-E4B79DE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54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Workload measure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6F8A2A-ED66-4000-96F9-5EAC122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38800"/>
            <a:ext cx="2952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2C99F3-8A7D-41FD-8669-37BC741E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67375"/>
            <a:ext cx="12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75" b="1">
                <a:solidFill>
                  <a:srgbClr val="3B82C4"/>
                </a:solidFill>
                <a:latin typeface="AR PL KaitiM Big5"/>
                <a:ea typeface="AR PL KaitiM Big5"/>
                <a:cs typeface="AR PL KaitiM Big5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A226CC-7CF9-477C-99F1-212C7445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388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Semi-structured interview + thematic analysis</a:t>
            </a:r>
          </a:p>
        </p:txBody>
      </p:sp>
    </p:spTree>
    <p:extLst>
      <p:ext uri="{BB962C8B-B14F-4D97-AF65-F5344CB8AC3E}">
        <p14:creationId xmlns:p14="http://schemas.microsoft.com/office/powerpoint/2010/main" val="84991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11D59-1879-41DD-9899-886DC78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1687F-6647-4998-8D15-B4054451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EXECUTION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31221-102F-4E21-A320-9A4B97D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255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Recommended research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F0911-42C7-46A7-B444-8A52674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A768C-AF29-4047-B0AA-B90AFD8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9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A8F3F-1B34-4DB9-A956-2BDC013A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BD1AF-ABE5-4828-A96D-41940E73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>
            <a:def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1488B-85E2-4602-88F8-ADB6E1D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Formative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0D5E5-90C5-4893-A27A-E2489ECF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Validate users, tasks and pain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541E1-8673-47AD-8DF1-1BE232F7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8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6B1CB-0087-49EB-BA2C-E18EDE9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14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54"/>
          </a:bodyPr>
          <a:lstStyle xmlns:a="http://schemas.openxmlformats.org/drawingml/2006/main">
            <a:def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GO: stable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9A043-5AB3-4CFD-AAA2-BFEE4B40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046"/>
          </a:bodyPr>
          <a:lstStyle xmlns:a="http://schemas.openxmlformats.org/drawingml/2006/main">
            <a:def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0AC6C-C248-4B74-BC44-ECC65CE6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66875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F3B62-354F-4CAE-BEBE-B4D8464C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>
            <a:def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45196-7B87-4F8C-8B7E-B2CD53D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5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Annotation 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6A7AC-97FE-4894-A6F2-AD0905A7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Create expert ground truth and agreement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5B811-0021-4049-BD5E-3DD169C3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38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E20A3-DE6F-404A-98F7-3AAACB6B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32"/>
          </a:bodyPr>
          <a:lstStyle xmlns:a="http://schemas.openxmlformats.org/drawingml/2006/main">
            <a:def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GO: reliable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796B1-ACD9-4AC4-9E2F-F8E07D87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9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046"/>
          </a:bodyPr>
          <a:lstStyle xmlns:a="http://schemas.openxmlformats.org/drawingml/2006/main">
            <a:def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FE79F-94CC-4CE9-9BB4-0EF9E80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66875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3EBEB-9BE4-482F-AD4E-993EB38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573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>
            <a:def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D0E93-4A01-4446-8774-57EA3EB3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5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Technical ablations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04BC9-A5F9-4D83-83BC-AC84CF08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Test output context, generating code and retrieval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64F43-1393-44C7-AC12-A40064CD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38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FFB04-8E97-4B5E-BC3A-8A0ADF4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14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>
            <a:def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GO: measurable link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DBB8F-F1B6-45FC-83AC-6647E907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9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046"/>
          </a:bodyPr>
          <a:lstStyle xmlns:a="http://schemas.openxmlformats.org/drawingml/2006/main">
            <a:def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66F8B-94EC-4412-8479-06AD535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66875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1AB52B-C07C-4F04-A424-2D46421B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573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>
            <a:def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7E4FF-4D2B-49A8-8BE4-742D4402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UI 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C34170-CC8B-45AB-8D62-95966800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Repair tasks, timing and interaction issues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CD6CD-F722-4618-8135-F54741B0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38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F02FA-CBC5-4621-ABA5-B2210E0C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314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>
            <a:def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08756F"/>
                </a:solidFill>
                <a:latin typeface="AR PL KaitiM Big5"/>
                <a:ea typeface="AR PL KaitiM Big5"/>
                <a:cs typeface="AR PL KaitiM Big5"/>
              </a:rPr>
              <a:t>GO: study-ready prototype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2F606-FC5F-43E0-892D-19EBE6C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046"/>
          </a:bodyPr>
          <a:lstStyle xmlns:a="http://schemas.openxmlformats.org/drawingml/2006/main">
            <a:def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725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C4F2D-C9DB-48A1-943B-121B7196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66875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15B2DB-FBEA-41DC-8E63-7AC0FCE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573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>
            <a:defPPr algn="l">
              <a:defRPr sz="165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65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6BD0FF-D83A-4890-9031-A969F913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003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5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172A3A"/>
                </a:solidFill>
                <a:latin typeface="AR PL KaitiM Big5"/>
                <a:ea typeface="AR PL KaitiM Big5"/>
                <a:cs typeface="AR PL KaitiM Big5"/>
              </a:rPr>
              <a:t>Controlled study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92AE93-62BE-46B9-8419-1550FFB5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0">
                <a:solidFill>
                  <a:srgbClr val="5B6B79"/>
                </a:solidFill>
                <a:latin typeface="AR PL KaitiM Big5"/>
                <a:ea typeface="AR PL KaitiM Big5"/>
                <a:cs typeface="AR PL KaitiM Big5"/>
              </a:rPr>
              <a:t>Compare comprehension, navigation and resumption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4B53E3-9C13-43E2-8298-DE5811B9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238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1A5E26-ABDB-4886-B10C-9DFF6F3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14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>
            <a:defPPr algn="ctr">
              <a:defRPr sz="105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050" b="1">
                <a:solidFill>
                  <a:srgbClr val="F28E5B"/>
                </a:solidFill>
                <a:latin typeface="AR PL KaitiM Big5"/>
                <a:ea typeface="AR PL KaitiM Big5"/>
                <a:cs typeface="AR PL KaitiM Big5"/>
              </a:rPr>
              <a:t>GO: defensible contribution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C0A2D8-DA07-4938-B658-87322AC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9918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2B32C5-A5B0-4BE8-A1FC-78FDCD1F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 algn="l">
              <a:defRPr sz="120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200" b="1">
                <a:solidFill>
                  <a:srgbClr val="159A91"/>
                </a:solidFill>
                <a:latin typeface="AR PL KaitiM Big5"/>
                <a:ea typeface="AR PL KaitiM Big5"/>
                <a:cs typeface="AR PL KaitiM Big5"/>
              </a:rPr>
              <a:t>Recommended thesis position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79B4D-393B-4212-8E5B-F17114C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57825"/>
            <a:ext cx="803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583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defRPr>
            </a:pPr>
            <a:r>
              <a:rPr sz="1500" b="1">
                <a:solidFill>
                  <a:srgbClr val="FFFFFF"/>
                </a:solidFill>
                <a:latin typeface="AR PL KaitiM Big5"/>
                <a:ea typeface="AR PL KaitiM Big5"/>
                <a:cs typeface="AR PL KaitiM Big5"/>
              </a:rPr>
              <a:t>LinkMaker supports evidence-aware comprehension by automatically creating, explaining and revisiting relationships in computational notebooks.</a:t>
            </a:r>
          </a:p>
        </p:txBody>
      </p:sp>
    </p:spTree>
    <p:extLst>
      <p:ext uri="{BB962C8B-B14F-4D97-AF65-F5344CB8AC3E}">
        <p14:creationId xmlns:p14="http://schemas.microsoft.com/office/powerpoint/2010/main" val="1229268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2026-10-01T20:49:08.8020000Z</dcterms:created>
  <dcterms:modified xsi:type="dcterms:W3CDTF">2026-10-01T20:49:08.8020000Z</dcterms:modified>
</coreProperties>
</file>